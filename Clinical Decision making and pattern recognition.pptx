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57" r:id="rId6"/>
    <p:sldId id="262" r:id="rId7"/>
    <p:sldId id="261" r:id="rId8"/>
    <p:sldId id="263" r:id="rId9"/>
    <p:sldId id="264" r:id="rId10"/>
  </p:sldIdLst>
  <p:sldSz cx="18288000" cy="10287000"/>
  <p:notesSz cx="6858000" cy="9144000"/>
  <p:embeddedFontLst>
    <p:embeddedFont>
      <p:font typeface="Anton" pitchFamily="2" charset="77"/>
      <p:regular r:id="rId11"/>
    </p:embeddedFont>
    <p:embeddedFont>
      <p:font typeface="Poppins" pitchFamily="2" charset="77"/>
      <p:regular r:id="rId12"/>
      <p:bold r:id="rId13"/>
    </p:embeddedFont>
    <p:embeddedFont>
      <p:font typeface="Poppins Bold" pitchFamily="2" charset="77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588" autoAdjust="0"/>
  </p:normalViewPr>
  <p:slideViewPr>
    <p:cSldViewPr>
      <p:cViewPr varScale="1">
        <p:scale>
          <a:sx n="71" d="100"/>
          <a:sy n="71" d="100"/>
        </p:scale>
        <p:origin x="78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69552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9258300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917815" y="9258300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458585" y="9258300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5" y="0"/>
                </a:lnTo>
                <a:lnTo>
                  <a:pt x="4221105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376400" y="9258300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786610" y="4840820"/>
            <a:ext cx="7349875" cy="7122697"/>
          </a:xfrm>
          <a:custGeom>
            <a:avLst/>
            <a:gdLst/>
            <a:ahLst/>
            <a:cxnLst/>
            <a:rect l="l" t="t" r="r" b="b"/>
            <a:pathLst>
              <a:path w="7349875" h="7122697">
                <a:moveTo>
                  <a:pt x="0" y="0"/>
                </a:moveTo>
                <a:lnTo>
                  <a:pt x="7349875" y="0"/>
                </a:lnTo>
                <a:lnTo>
                  <a:pt x="7349875" y="7122697"/>
                </a:lnTo>
                <a:lnTo>
                  <a:pt x="0" y="7122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70054" y="-513922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87116" y="5143500"/>
            <a:ext cx="6538614" cy="1442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500" dirty="0">
                <a:solidFill>
                  <a:srgbClr val="2E073F"/>
                </a:solidFill>
                <a:latin typeface="Poppins"/>
                <a:ea typeface="Poppins"/>
                <a:cs typeface="Poppins"/>
                <a:sym typeface="Poppins"/>
              </a:rPr>
              <a:t>Understanding how AI can be used in predictive models and pattern recognition to support the decision-making process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7503" y="2187113"/>
            <a:ext cx="8283890" cy="154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Clinical </a:t>
            </a:r>
            <a:r>
              <a:rPr lang="en-US" sz="600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Decision Making and Pattern </a:t>
            </a:r>
            <a:r>
              <a:rPr lang="en-US" sz="60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en-US" sz="600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ecognition</a:t>
            </a:r>
            <a:endParaRPr lang="en-US" sz="6000" dirty="0">
              <a:solidFill>
                <a:srgbClr val="2E073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D9A78482-00E0-A6EB-C85E-EE9C5CCD4489}"/>
              </a:ext>
            </a:extLst>
          </p:cNvPr>
          <p:cNvSpPr/>
          <p:nvPr/>
        </p:nvSpPr>
        <p:spPr>
          <a:xfrm>
            <a:off x="10878210" y="3251765"/>
            <a:ext cx="3828389" cy="3568135"/>
          </a:xfrm>
          <a:custGeom>
            <a:avLst/>
            <a:gdLst/>
            <a:ahLst/>
            <a:cxnLst/>
            <a:rect l="l" t="t" r="r" b="b"/>
            <a:pathLst>
              <a:path w="3283170" h="3178109">
                <a:moveTo>
                  <a:pt x="0" y="0"/>
                </a:moveTo>
                <a:lnTo>
                  <a:pt x="3283170" y="0"/>
                </a:lnTo>
                <a:lnTo>
                  <a:pt x="3283170" y="3178108"/>
                </a:lnTo>
                <a:lnTo>
                  <a:pt x="0" y="3178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14063" y="2019300"/>
            <a:ext cx="5077185" cy="0"/>
          </a:xfrm>
          <a:prstGeom prst="line">
            <a:avLst/>
          </a:prstGeom>
          <a:ln w="38100" cap="rnd">
            <a:solidFill>
              <a:srgbClr val="0B0A0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096330" y="4028329"/>
            <a:ext cx="4221105" cy="1662785"/>
            <a:chOff x="0" y="0"/>
            <a:chExt cx="812800" cy="3341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334166"/>
            </a:xfrm>
            <a:custGeom>
              <a:avLst/>
              <a:gdLst/>
              <a:ahLst/>
              <a:cxnLst/>
              <a:rect l="l" t="t" r="r" b="b"/>
              <a:pathLst>
                <a:path w="812800" h="334166">
                  <a:moveTo>
                    <a:pt x="0" y="0"/>
                  </a:moveTo>
                  <a:lnTo>
                    <a:pt x="812800" y="0"/>
                  </a:lnTo>
                  <a:lnTo>
                    <a:pt x="812800" y="334166"/>
                  </a:lnTo>
                  <a:lnTo>
                    <a:pt x="0" y="334166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812800" cy="40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67434" y="5387475"/>
            <a:ext cx="6078924" cy="3600898"/>
            <a:chOff x="-27655" y="-66675"/>
            <a:chExt cx="840455" cy="400841"/>
          </a:xfrm>
        </p:grpSpPr>
        <p:sp>
          <p:nvSpPr>
            <p:cNvPr id="7" name="Freeform 7"/>
            <p:cNvSpPr/>
            <p:nvPr/>
          </p:nvSpPr>
          <p:spPr>
            <a:xfrm>
              <a:off x="-27655" y="-5453"/>
              <a:ext cx="812800" cy="334166"/>
            </a:xfrm>
            <a:custGeom>
              <a:avLst/>
              <a:gdLst/>
              <a:ahLst/>
              <a:cxnLst/>
              <a:rect l="l" t="t" r="r" b="b"/>
              <a:pathLst>
                <a:path w="812800" h="334166">
                  <a:moveTo>
                    <a:pt x="0" y="0"/>
                  </a:moveTo>
                  <a:lnTo>
                    <a:pt x="812800" y="0"/>
                  </a:lnTo>
                  <a:lnTo>
                    <a:pt x="812800" y="334166"/>
                  </a:lnTo>
                  <a:lnTo>
                    <a:pt x="0" y="334166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40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01696" y="3875342"/>
            <a:ext cx="4221105" cy="1768346"/>
            <a:chOff x="0" y="0"/>
            <a:chExt cx="812800" cy="3341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334166"/>
            </a:xfrm>
            <a:custGeom>
              <a:avLst/>
              <a:gdLst/>
              <a:ahLst/>
              <a:cxnLst/>
              <a:rect l="l" t="t" r="r" b="b"/>
              <a:pathLst>
                <a:path w="812800" h="334166">
                  <a:moveTo>
                    <a:pt x="0" y="0"/>
                  </a:moveTo>
                  <a:lnTo>
                    <a:pt x="812800" y="0"/>
                  </a:lnTo>
                  <a:lnTo>
                    <a:pt x="812800" y="334166"/>
                  </a:lnTo>
                  <a:lnTo>
                    <a:pt x="0" y="334166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12800" cy="40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-4114800" y="-286677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flipH="1">
            <a:off x="0" y="0"/>
            <a:ext cx="3054041" cy="3054041"/>
          </a:xfrm>
          <a:custGeom>
            <a:avLst/>
            <a:gdLst/>
            <a:ahLst/>
            <a:cxnLst/>
            <a:rect l="l" t="t" r="r" b="b"/>
            <a:pathLst>
              <a:path w="3054041" h="3054041">
                <a:moveTo>
                  <a:pt x="3054041" y="0"/>
                </a:moveTo>
                <a:lnTo>
                  <a:pt x="0" y="0"/>
                </a:lnTo>
                <a:lnTo>
                  <a:pt x="0" y="3054041"/>
                </a:lnTo>
                <a:lnTo>
                  <a:pt x="3054041" y="3054041"/>
                </a:lnTo>
                <a:lnTo>
                  <a:pt x="30540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344926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262740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5" y="0"/>
                </a:lnTo>
                <a:lnTo>
                  <a:pt x="4221105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3721970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4803511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3581400" y="4108223"/>
            <a:ext cx="3124200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1" b="1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Decision-making:</a:t>
            </a:r>
          </a:p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1700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Removing some of the human burden of making choices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201749" y="3982070"/>
            <a:ext cx="3487777" cy="1423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1" b="1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Pattern Recognition:</a:t>
            </a:r>
          </a:p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1700" b="1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 similarities within the data and making conclusions based off that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21917" y="1020781"/>
            <a:ext cx="5077186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80"/>
              </a:lnSpc>
              <a:spcBef>
                <a:spcPct val="0"/>
              </a:spcBef>
            </a:pPr>
            <a:r>
              <a:rPr lang="en-US" sz="5800" u="none" strike="noStrike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What it means</a:t>
            </a:r>
          </a:p>
        </p:txBody>
      </p:sp>
      <p:sp>
        <p:nvSpPr>
          <p:cNvPr id="44" name="TextBox 31">
            <a:extLst>
              <a:ext uri="{FF2B5EF4-FFF2-40B4-BE49-F238E27FC236}">
                <a16:creationId xmlns:a16="http://schemas.microsoft.com/office/drawing/2014/main" id="{2C6D923E-C2CE-5027-6CC4-3D3D5B7A3572}"/>
              </a:ext>
            </a:extLst>
          </p:cNvPr>
          <p:cNvSpPr txBox="1"/>
          <p:nvPr/>
        </p:nvSpPr>
        <p:spPr>
          <a:xfrm>
            <a:off x="2667000" y="6323233"/>
            <a:ext cx="4953000" cy="214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80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models to train on past data and predict future outcomes</a:t>
            </a:r>
          </a:p>
          <a:p>
            <a:pPr marL="285750" indent="-285750" algn="ctr">
              <a:lnSpc>
                <a:spcPts val="280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Use models to figure out the best treatment plan for patients</a:t>
            </a:r>
          </a:p>
          <a:p>
            <a:pPr marL="285750" indent="-285750" algn="ctr">
              <a:lnSpc>
                <a:spcPts val="280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Decrease decision-making workload on clinicians and patients</a:t>
            </a:r>
          </a:p>
        </p:txBody>
      </p:sp>
      <p:grpSp>
        <p:nvGrpSpPr>
          <p:cNvPr id="46" name="Group 6">
            <a:extLst>
              <a:ext uri="{FF2B5EF4-FFF2-40B4-BE49-F238E27FC236}">
                <a16:creationId xmlns:a16="http://schemas.microsoft.com/office/drawing/2014/main" id="{5F376FF1-CF70-4444-8CD5-165062FC2F26}"/>
              </a:ext>
            </a:extLst>
          </p:cNvPr>
          <p:cNvGrpSpPr/>
          <p:nvPr/>
        </p:nvGrpSpPr>
        <p:grpSpPr>
          <a:xfrm>
            <a:off x="10972800" y="5362822"/>
            <a:ext cx="6078924" cy="3600898"/>
            <a:chOff x="-27655" y="-66675"/>
            <a:chExt cx="840455" cy="400841"/>
          </a:xfrm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3EA434DE-DDC7-56F7-0469-4A4FFB7B5ADE}"/>
                </a:ext>
              </a:extLst>
            </p:cNvPr>
            <p:cNvSpPr/>
            <p:nvPr/>
          </p:nvSpPr>
          <p:spPr>
            <a:xfrm>
              <a:off x="-27655" y="-5453"/>
              <a:ext cx="812800" cy="334166"/>
            </a:xfrm>
            <a:custGeom>
              <a:avLst/>
              <a:gdLst/>
              <a:ahLst/>
              <a:cxnLst/>
              <a:rect l="l" t="t" r="r" b="b"/>
              <a:pathLst>
                <a:path w="812800" h="334166">
                  <a:moveTo>
                    <a:pt x="0" y="0"/>
                  </a:moveTo>
                  <a:lnTo>
                    <a:pt x="812800" y="0"/>
                  </a:lnTo>
                  <a:lnTo>
                    <a:pt x="812800" y="334166"/>
                  </a:lnTo>
                  <a:lnTo>
                    <a:pt x="0" y="334166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8">
              <a:extLst>
                <a:ext uri="{FF2B5EF4-FFF2-40B4-BE49-F238E27FC236}">
                  <a16:creationId xmlns:a16="http://schemas.microsoft.com/office/drawing/2014/main" id="{4D723D7F-A255-C396-0128-99658C6B46EE}"/>
                </a:ext>
              </a:extLst>
            </p:cNvPr>
            <p:cNvSpPr txBox="1"/>
            <p:nvPr/>
          </p:nvSpPr>
          <p:spPr>
            <a:xfrm>
              <a:off x="0" y="-66675"/>
              <a:ext cx="812800" cy="40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9" name="Freeform 21">
            <a:extLst>
              <a:ext uri="{FF2B5EF4-FFF2-40B4-BE49-F238E27FC236}">
                <a16:creationId xmlns:a16="http://schemas.microsoft.com/office/drawing/2014/main" id="{80B844A7-766D-8E87-E5C1-F21A588F0859}"/>
              </a:ext>
            </a:extLst>
          </p:cNvPr>
          <p:cNvSpPr/>
          <p:nvPr/>
        </p:nvSpPr>
        <p:spPr>
          <a:xfrm>
            <a:off x="14753081" y="229112"/>
            <a:ext cx="3315169" cy="1907958"/>
          </a:xfrm>
          <a:custGeom>
            <a:avLst/>
            <a:gdLst/>
            <a:ahLst/>
            <a:cxnLst/>
            <a:rect l="l" t="t" r="r" b="b"/>
            <a:pathLst>
              <a:path w="5339103" h="3299565">
                <a:moveTo>
                  <a:pt x="0" y="0"/>
                </a:moveTo>
                <a:lnTo>
                  <a:pt x="5339103" y="0"/>
                </a:lnTo>
                <a:lnTo>
                  <a:pt x="5339103" y="3299566"/>
                </a:lnTo>
                <a:lnTo>
                  <a:pt x="0" y="3299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A6A069AC-ACBA-8EB0-419C-3AC2D3CA9CF9}"/>
              </a:ext>
            </a:extLst>
          </p:cNvPr>
          <p:cNvSpPr txBox="1"/>
          <p:nvPr/>
        </p:nvSpPr>
        <p:spPr>
          <a:xfrm>
            <a:off x="11382257" y="6193667"/>
            <a:ext cx="4953000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80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Use time-series clustering to make accurate inferences </a:t>
            </a:r>
          </a:p>
          <a:p>
            <a:pPr marL="285750" indent="-285750" algn="ctr">
              <a:lnSpc>
                <a:spcPts val="280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 unsupervised models to find anomalies in data</a:t>
            </a:r>
          </a:p>
          <a:p>
            <a:pPr marL="285750" indent="-285750" algn="ctr">
              <a:lnSpc>
                <a:spcPts val="280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Decrease the time spent by physicians to find problems within the data</a:t>
            </a:r>
          </a:p>
        </p:txBody>
      </p:sp>
    </p:spTree>
    <p:extLst>
      <p:ext uri="{BB962C8B-B14F-4D97-AF65-F5344CB8AC3E}">
        <p14:creationId xmlns:p14="http://schemas.microsoft.com/office/powerpoint/2010/main" val="281141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903DA-D837-2128-CE55-6D5FA43D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6AD6952-F682-E8EF-69EE-D3BFBC955429}"/>
              </a:ext>
            </a:extLst>
          </p:cNvPr>
          <p:cNvSpPr/>
          <p:nvPr/>
        </p:nvSpPr>
        <p:spPr>
          <a:xfrm>
            <a:off x="9780225" y="3054041"/>
            <a:ext cx="5077185" cy="0"/>
          </a:xfrm>
          <a:prstGeom prst="line">
            <a:avLst/>
          </a:prstGeom>
          <a:ln w="38100" cap="rnd">
            <a:solidFill>
              <a:srgbClr val="0B0A0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BB4451-7486-C27F-A539-0901C8D232EF}"/>
              </a:ext>
            </a:extLst>
          </p:cNvPr>
          <p:cNvGrpSpPr/>
          <p:nvPr/>
        </p:nvGrpSpPr>
        <p:grpSpPr>
          <a:xfrm>
            <a:off x="1798534" y="5525405"/>
            <a:ext cx="3464398" cy="1424318"/>
            <a:chOff x="0" y="0"/>
            <a:chExt cx="812800" cy="3341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C3BD739-6495-4FF3-CCD2-AD2F7B05F4FF}"/>
                </a:ext>
              </a:extLst>
            </p:cNvPr>
            <p:cNvSpPr/>
            <p:nvPr/>
          </p:nvSpPr>
          <p:spPr>
            <a:xfrm>
              <a:off x="0" y="0"/>
              <a:ext cx="812800" cy="334166"/>
            </a:xfrm>
            <a:custGeom>
              <a:avLst/>
              <a:gdLst/>
              <a:ahLst/>
              <a:cxnLst/>
              <a:rect l="l" t="t" r="r" b="b"/>
              <a:pathLst>
                <a:path w="812800" h="334166">
                  <a:moveTo>
                    <a:pt x="0" y="0"/>
                  </a:moveTo>
                  <a:lnTo>
                    <a:pt x="812800" y="0"/>
                  </a:lnTo>
                  <a:lnTo>
                    <a:pt x="812800" y="334166"/>
                  </a:lnTo>
                  <a:lnTo>
                    <a:pt x="0" y="334166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8B9C7B7-53DE-42CA-8EF6-C193A14FF9E0}"/>
                </a:ext>
              </a:extLst>
            </p:cNvPr>
            <p:cNvSpPr txBox="1"/>
            <p:nvPr/>
          </p:nvSpPr>
          <p:spPr>
            <a:xfrm>
              <a:off x="0" y="-66675"/>
              <a:ext cx="812800" cy="40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837CF2E-25B3-C6FF-38BD-1DF6E8BBAA49}"/>
              </a:ext>
            </a:extLst>
          </p:cNvPr>
          <p:cNvGrpSpPr/>
          <p:nvPr/>
        </p:nvGrpSpPr>
        <p:grpSpPr>
          <a:xfrm>
            <a:off x="7370152" y="4297262"/>
            <a:ext cx="3464398" cy="1424318"/>
            <a:chOff x="0" y="0"/>
            <a:chExt cx="812800" cy="33416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81BD0B-884C-4A62-A805-F5AF7517715C}"/>
                </a:ext>
              </a:extLst>
            </p:cNvPr>
            <p:cNvSpPr/>
            <p:nvPr/>
          </p:nvSpPr>
          <p:spPr>
            <a:xfrm>
              <a:off x="0" y="0"/>
              <a:ext cx="812800" cy="334166"/>
            </a:xfrm>
            <a:custGeom>
              <a:avLst/>
              <a:gdLst/>
              <a:ahLst/>
              <a:cxnLst/>
              <a:rect l="l" t="t" r="r" b="b"/>
              <a:pathLst>
                <a:path w="812800" h="334166">
                  <a:moveTo>
                    <a:pt x="0" y="0"/>
                  </a:moveTo>
                  <a:lnTo>
                    <a:pt x="812800" y="0"/>
                  </a:lnTo>
                  <a:lnTo>
                    <a:pt x="812800" y="334166"/>
                  </a:lnTo>
                  <a:lnTo>
                    <a:pt x="0" y="334166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AF34FB-4D91-E53E-8605-CF91860B6FE9}"/>
                </a:ext>
              </a:extLst>
            </p:cNvPr>
            <p:cNvSpPr txBox="1"/>
            <p:nvPr/>
          </p:nvSpPr>
          <p:spPr>
            <a:xfrm>
              <a:off x="0" y="-66675"/>
              <a:ext cx="812800" cy="40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131588D-B5DF-EDFC-4636-CDA5E9FE5939}"/>
              </a:ext>
            </a:extLst>
          </p:cNvPr>
          <p:cNvGrpSpPr/>
          <p:nvPr/>
        </p:nvGrpSpPr>
        <p:grpSpPr>
          <a:xfrm>
            <a:off x="12936069" y="5525405"/>
            <a:ext cx="3464398" cy="1424318"/>
            <a:chOff x="0" y="0"/>
            <a:chExt cx="812800" cy="33416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887C87-922A-2753-D3B2-9FF918346AC9}"/>
                </a:ext>
              </a:extLst>
            </p:cNvPr>
            <p:cNvSpPr/>
            <p:nvPr/>
          </p:nvSpPr>
          <p:spPr>
            <a:xfrm>
              <a:off x="0" y="0"/>
              <a:ext cx="812800" cy="334166"/>
            </a:xfrm>
            <a:custGeom>
              <a:avLst/>
              <a:gdLst/>
              <a:ahLst/>
              <a:cxnLst/>
              <a:rect l="l" t="t" r="r" b="b"/>
              <a:pathLst>
                <a:path w="812800" h="334166">
                  <a:moveTo>
                    <a:pt x="0" y="0"/>
                  </a:moveTo>
                  <a:lnTo>
                    <a:pt x="812800" y="0"/>
                  </a:lnTo>
                  <a:lnTo>
                    <a:pt x="812800" y="334166"/>
                  </a:lnTo>
                  <a:lnTo>
                    <a:pt x="0" y="334166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DBF8EDE-6016-F6EA-DD44-CC00F7928617}"/>
                </a:ext>
              </a:extLst>
            </p:cNvPr>
            <p:cNvSpPr txBox="1"/>
            <p:nvPr/>
          </p:nvSpPr>
          <p:spPr>
            <a:xfrm>
              <a:off x="0" y="-66675"/>
              <a:ext cx="812800" cy="40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525DD1D-96CA-9DD6-3C14-F00B75D14CF3}"/>
              </a:ext>
            </a:extLst>
          </p:cNvPr>
          <p:cNvGrpSpPr/>
          <p:nvPr/>
        </p:nvGrpSpPr>
        <p:grpSpPr>
          <a:xfrm>
            <a:off x="996398" y="6990354"/>
            <a:ext cx="5182065" cy="1599099"/>
            <a:chOff x="0" y="0"/>
            <a:chExt cx="1215791" cy="37517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F5D87C1-7B02-C22E-9E49-3B1BEB5BFBCE}"/>
                </a:ext>
              </a:extLst>
            </p:cNvPr>
            <p:cNvSpPr/>
            <p:nvPr/>
          </p:nvSpPr>
          <p:spPr>
            <a:xfrm>
              <a:off x="0" y="0"/>
              <a:ext cx="1215791" cy="375173"/>
            </a:xfrm>
            <a:custGeom>
              <a:avLst/>
              <a:gdLst/>
              <a:ahLst/>
              <a:cxnLst/>
              <a:rect l="l" t="t" r="r" b="b"/>
              <a:pathLst>
                <a:path w="1215791" h="375173">
                  <a:moveTo>
                    <a:pt x="203200" y="0"/>
                  </a:moveTo>
                  <a:lnTo>
                    <a:pt x="1012591" y="0"/>
                  </a:lnTo>
                  <a:lnTo>
                    <a:pt x="1215791" y="375173"/>
                  </a:lnTo>
                  <a:lnTo>
                    <a:pt x="0" y="37517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A1C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6E829C8-8269-7703-85EF-AB00586351B7}"/>
                </a:ext>
              </a:extLst>
            </p:cNvPr>
            <p:cNvSpPr txBox="1"/>
            <p:nvPr/>
          </p:nvSpPr>
          <p:spPr>
            <a:xfrm>
              <a:off x="127000" y="-66675"/>
              <a:ext cx="961791" cy="441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5CDAA3E-8EC1-4B51-34AB-BA8EC368EB30}"/>
              </a:ext>
            </a:extLst>
          </p:cNvPr>
          <p:cNvGrpSpPr/>
          <p:nvPr/>
        </p:nvGrpSpPr>
        <p:grpSpPr>
          <a:xfrm>
            <a:off x="6585284" y="5838857"/>
            <a:ext cx="5182065" cy="1599099"/>
            <a:chOff x="0" y="0"/>
            <a:chExt cx="1215791" cy="37517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C7E4FAB-405D-25AE-F460-C47CFE6EF0D3}"/>
                </a:ext>
              </a:extLst>
            </p:cNvPr>
            <p:cNvSpPr/>
            <p:nvPr/>
          </p:nvSpPr>
          <p:spPr>
            <a:xfrm>
              <a:off x="0" y="0"/>
              <a:ext cx="1215791" cy="375173"/>
            </a:xfrm>
            <a:custGeom>
              <a:avLst/>
              <a:gdLst/>
              <a:ahLst/>
              <a:cxnLst/>
              <a:rect l="l" t="t" r="r" b="b"/>
              <a:pathLst>
                <a:path w="1215791" h="375173">
                  <a:moveTo>
                    <a:pt x="203200" y="0"/>
                  </a:moveTo>
                  <a:lnTo>
                    <a:pt x="1012591" y="0"/>
                  </a:lnTo>
                  <a:lnTo>
                    <a:pt x="1215791" y="375173"/>
                  </a:lnTo>
                  <a:lnTo>
                    <a:pt x="0" y="37517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A1C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7D1234A-CD0C-F6D6-14DE-BECFA59564C9}"/>
                </a:ext>
              </a:extLst>
            </p:cNvPr>
            <p:cNvSpPr txBox="1"/>
            <p:nvPr/>
          </p:nvSpPr>
          <p:spPr>
            <a:xfrm>
              <a:off x="127000" y="-66675"/>
              <a:ext cx="961791" cy="441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5B005ED-CA6F-09FF-835C-4D84003147FF}"/>
              </a:ext>
            </a:extLst>
          </p:cNvPr>
          <p:cNvGrpSpPr/>
          <p:nvPr/>
        </p:nvGrpSpPr>
        <p:grpSpPr>
          <a:xfrm>
            <a:off x="12077235" y="6990354"/>
            <a:ext cx="5182065" cy="1599099"/>
            <a:chOff x="0" y="0"/>
            <a:chExt cx="1215791" cy="37517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FB19FFB-231A-CC78-7127-919EDD0EE887}"/>
                </a:ext>
              </a:extLst>
            </p:cNvPr>
            <p:cNvSpPr/>
            <p:nvPr/>
          </p:nvSpPr>
          <p:spPr>
            <a:xfrm>
              <a:off x="0" y="0"/>
              <a:ext cx="1215791" cy="375173"/>
            </a:xfrm>
            <a:custGeom>
              <a:avLst/>
              <a:gdLst/>
              <a:ahLst/>
              <a:cxnLst/>
              <a:rect l="l" t="t" r="r" b="b"/>
              <a:pathLst>
                <a:path w="1215791" h="375173">
                  <a:moveTo>
                    <a:pt x="203200" y="0"/>
                  </a:moveTo>
                  <a:lnTo>
                    <a:pt x="1012591" y="0"/>
                  </a:lnTo>
                  <a:lnTo>
                    <a:pt x="1215791" y="375173"/>
                  </a:lnTo>
                  <a:lnTo>
                    <a:pt x="0" y="37517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A1C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7767B59-B6B5-CB67-4250-30E386E6921C}"/>
                </a:ext>
              </a:extLst>
            </p:cNvPr>
            <p:cNvSpPr txBox="1"/>
            <p:nvPr/>
          </p:nvSpPr>
          <p:spPr>
            <a:xfrm>
              <a:off x="127000" y="-66675"/>
              <a:ext cx="961791" cy="441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916DD17-BAE4-18BA-915C-B21AC5F12E10}"/>
              </a:ext>
            </a:extLst>
          </p:cNvPr>
          <p:cNvSpPr/>
          <p:nvPr/>
        </p:nvSpPr>
        <p:spPr>
          <a:xfrm>
            <a:off x="-4114800" y="-286677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8220E5B4-52B6-B7CE-28C2-EF487670CE85}"/>
              </a:ext>
            </a:extLst>
          </p:cNvPr>
          <p:cNvSpPr/>
          <p:nvPr/>
        </p:nvSpPr>
        <p:spPr>
          <a:xfrm flipH="1">
            <a:off x="0" y="0"/>
            <a:ext cx="3054041" cy="3054041"/>
          </a:xfrm>
          <a:custGeom>
            <a:avLst/>
            <a:gdLst/>
            <a:ahLst/>
            <a:cxnLst/>
            <a:rect l="l" t="t" r="r" b="b"/>
            <a:pathLst>
              <a:path w="3054041" h="3054041">
                <a:moveTo>
                  <a:pt x="3054041" y="0"/>
                </a:moveTo>
                <a:lnTo>
                  <a:pt x="0" y="0"/>
                </a:lnTo>
                <a:lnTo>
                  <a:pt x="0" y="3054041"/>
                </a:lnTo>
                <a:lnTo>
                  <a:pt x="3054041" y="3054041"/>
                </a:lnTo>
                <a:lnTo>
                  <a:pt x="30540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B2EE3CAD-CE7C-4618-B666-C9FD32CE5B3D}"/>
              </a:ext>
            </a:extLst>
          </p:cNvPr>
          <p:cNvSpPr/>
          <p:nvPr/>
        </p:nvSpPr>
        <p:spPr>
          <a:xfrm>
            <a:off x="344926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C59F25A4-A0C3-284D-874E-084FDE5A5DD3}"/>
              </a:ext>
            </a:extLst>
          </p:cNvPr>
          <p:cNvSpPr/>
          <p:nvPr/>
        </p:nvSpPr>
        <p:spPr>
          <a:xfrm>
            <a:off x="9262740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5" y="0"/>
                </a:lnTo>
                <a:lnTo>
                  <a:pt x="4221105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835C99C7-89FF-06EB-D3AF-6EF1DF91A2C9}"/>
              </a:ext>
            </a:extLst>
          </p:cNvPr>
          <p:cNvSpPr/>
          <p:nvPr/>
        </p:nvSpPr>
        <p:spPr>
          <a:xfrm>
            <a:off x="13721970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06817DA2-BDDE-5BBE-A0B9-A0C6D6F2BB83}"/>
              </a:ext>
            </a:extLst>
          </p:cNvPr>
          <p:cNvSpPr/>
          <p:nvPr/>
        </p:nvSpPr>
        <p:spPr>
          <a:xfrm>
            <a:off x="4803511" y="9412049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1"/>
                </a:lnTo>
                <a:lnTo>
                  <a:pt x="0" y="1542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9654E3B-0E08-F1BF-1829-D9662342F0FD}"/>
              </a:ext>
            </a:extLst>
          </p:cNvPr>
          <p:cNvSpPr/>
          <p:nvPr/>
        </p:nvSpPr>
        <p:spPr>
          <a:xfrm>
            <a:off x="3765970" y="1049631"/>
            <a:ext cx="3148093" cy="2971800"/>
          </a:xfrm>
          <a:custGeom>
            <a:avLst/>
            <a:gdLst/>
            <a:ahLst/>
            <a:cxnLst/>
            <a:rect l="l" t="t" r="r" b="b"/>
            <a:pathLst>
              <a:path w="3148093" h="2971800">
                <a:moveTo>
                  <a:pt x="0" y="0"/>
                </a:moveTo>
                <a:lnTo>
                  <a:pt x="3148093" y="0"/>
                </a:lnTo>
                <a:lnTo>
                  <a:pt x="3148093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A3487AE-6D9B-2316-C792-5D5B20FE5C1E}"/>
              </a:ext>
            </a:extLst>
          </p:cNvPr>
          <p:cNvSpPr txBox="1"/>
          <p:nvPr/>
        </p:nvSpPr>
        <p:spPr>
          <a:xfrm>
            <a:off x="7500815" y="6030194"/>
            <a:ext cx="3310860" cy="1269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sz="175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testing and training healthcare data to predict the best treatment, plan, or decision</a:t>
            </a:r>
            <a:endParaRPr lang="en-US" sz="1751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7EB3ED4-02A7-2C62-F69F-EF05FA2BDB4D}"/>
              </a:ext>
            </a:extLst>
          </p:cNvPr>
          <p:cNvSpPr txBox="1"/>
          <p:nvPr/>
        </p:nvSpPr>
        <p:spPr>
          <a:xfrm>
            <a:off x="13091223" y="7143942"/>
            <a:ext cx="315409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sz="1751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multistep system that can plan, analyze, reassess without needing</a:t>
            </a:r>
            <a:r>
              <a:rPr lang="en-US" sz="175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human intervention</a:t>
            </a:r>
            <a:endParaRPr lang="en-US" sz="1751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B2CA18E-2E2C-E7B4-7F78-37CDAC442A43}"/>
              </a:ext>
            </a:extLst>
          </p:cNvPr>
          <p:cNvSpPr txBox="1"/>
          <p:nvPr/>
        </p:nvSpPr>
        <p:spPr>
          <a:xfrm>
            <a:off x="2450820" y="5830638"/>
            <a:ext cx="2337825" cy="70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1" b="1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Generative AI (GenAI)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CB1827D-85C9-CF74-DFF3-9F4FFF177D79}"/>
              </a:ext>
            </a:extLst>
          </p:cNvPr>
          <p:cNvSpPr txBox="1"/>
          <p:nvPr/>
        </p:nvSpPr>
        <p:spPr>
          <a:xfrm>
            <a:off x="7286687" y="4769813"/>
            <a:ext cx="3597838" cy="34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1" b="1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Predictive modeling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9A994C2-4A08-E852-37DF-F391129D12EC}"/>
              </a:ext>
            </a:extLst>
          </p:cNvPr>
          <p:cNvSpPr txBox="1"/>
          <p:nvPr/>
        </p:nvSpPr>
        <p:spPr>
          <a:xfrm>
            <a:off x="12924378" y="5994601"/>
            <a:ext cx="3487777" cy="34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1" b="1" dirty="0">
                <a:solidFill>
                  <a:srgbClr val="EBD3F8"/>
                </a:solidFill>
                <a:latin typeface="Poppins Bold"/>
                <a:ea typeface="Poppins Bold"/>
                <a:cs typeface="Poppins Bold"/>
                <a:sym typeface="Poppins Bold"/>
              </a:rPr>
              <a:t>Agentic AI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A753B4D-0201-FC16-7917-918185E44F42}"/>
              </a:ext>
            </a:extLst>
          </p:cNvPr>
          <p:cNvSpPr txBox="1"/>
          <p:nvPr/>
        </p:nvSpPr>
        <p:spPr>
          <a:xfrm>
            <a:off x="1944075" y="7254956"/>
            <a:ext cx="334214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sz="175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Creates outputs by predicting what the most likely outcome of a certain prompt is</a:t>
            </a:r>
            <a:endParaRPr lang="en-US" sz="1751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0B2A589-665E-1600-428F-C5A47324232C}"/>
              </a:ext>
            </a:extLst>
          </p:cNvPr>
          <p:cNvSpPr txBox="1"/>
          <p:nvPr/>
        </p:nvSpPr>
        <p:spPr>
          <a:xfrm>
            <a:off x="9085606" y="2112389"/>
            <a:ext cx="7407241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80"/>
              </a:lnSpc>
              <a:spcBef>
                <a:spcPct val="0"/>
              </a:spcBef>
            </a:pPr>
            <a:r>
              <a:rPr lang="en-US" sz="58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Decision-making and AI</a:t>
            </a:r>
            <a:endParaRPr lang="en-US" sz="5800" u="none" strike="noStrike" dirty="0">
              <a:solidFill>
                <a:srgbClr val="2E073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393329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1101999" y="2572681"/>
            <a:ext cx="0" cy="2112779"/>
          </a:xfrm>
          <a:prstGeom prst="line">
            <a:avLst/>
          </a:prstGeom>
          <a:ln w="19050" cap="rnd">
            <a:solidFill>
              <a:srgbClr val="7A1CAC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101999" y="4668219"/>
            <a:ext cx="0" cy="2186245"/>
          </a:xfrm>
          <a:prstGeom prst="line">
            <a:avLst/>
          </a:prstGeom>
          <a:ln w="19050" cap="rnd">
            <a:solidFill>
              <a:srgbClr val="7A1CAC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1562008" y="2724307"/>
            <a:ext cx="3822749" cy="0"/>
          </a:xfrm>
          <a:prstGeom prst="line">
            <a:avLst/>
          </a:prstGeom>
          <a:ln w="19050" cap="rnd">
            <a:solidFill>
              <a:srgbClr val="2E073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562007" y="4698124"/>
            <a:ext cx="3822749" cy="0"/>
          </a:xfrm>
          <a:prstGeom prst="line">
            <a:avLst/>
          </a:prstGeom>
          <a:ln w="19050" cap="rnd">
            <a:solidFill>
              <a:srgbClr val="2E073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562006" y="6885767"/>
            <a:ext cx="3822749" cy="0"/>
          </a:xfrm>
          <a:prstGeom prst="line">
            <a:avLst/>
          </a:prstGeom>
          <a:ln w="19050" cap="rnd">
            <a:solidFill>
              <a:srgbClr val="2E073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440768" y="6446507"/>
            <a:ext cx="7323274" cy="4686896"/>
          </a:xfrm>
          <a:custGeom>
            <a:avLst/>
            <a:gdLst/>
            <a:ahLst/>
            <a:cxnLst/>
            <a:rect l="l" t="t" r="r" b="b"/>
            <a:pathLst>
              <a:path w="7323274" h="4686896">
                <a:moveTo>
                  <a:pt x="0" y="0"/>
                </a:moveTo>
                <a:lnTo>
                  <a:pt x="7323275" y="0"/>
                </a:lnTo>
                <a:lnTo>
                  <a:pt x="7323275" y="4686895"/>
                </a:lnTo>
                <a:lnTo>
                  <a:pt x="0" y="4686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768162" y="5611846"/>
            <a:ext cx="3283170" cy="3178109"/>
          </a:xfrm>
          <a:custGeom>
            <a:avLst/>
            <a:gdLst/>
            <a:ahLst/>
            <a:cxnLst/>
            <a:rect l="l" t="t" r="r" b="b"/>
            <a:pathLst>
              <a:path w="3283170" h="3178109">
                <a:moveTo>
                  <a:pt x="0" y="0"/>
                </a:moveTo>
                <a:lnTo>
                  <a:pt x="3283170" y="0"/>
                </a:lnTo>
                <a:lnTo>
                  <a:pt x="3283170" y="3178108"/>
                </a:lnTo>
                <a:lnTo>
                  <a:pt x="0" y="3178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562008" y="2793409"/>
            <a:ext cx="4973392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2E073F"/>
                </a:solidFill>
                <a:latin typeface="Poppins"/>
                <a:ea typeface="Poppins"/>
                <a:cs typeface="Poppins"/>
                <a:sym typeface="Poppins"/>
              </a:rPr>
              <a:t>Using time-specific data points to cluster data into groups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62006" y="2242208"/>
            <a:ext cx="420281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2E073F"/>
                </a:solidFill>
                <a:latin typeface="Poppins Bold"/>
                <a:ea typeface="Poppins Bold"/>
                <a:cs typeface="Poppins Bold"/>
                <a:sym typeface="Poppins Bold"/>
              </a:rPr>
              <a:t>Time Series Clustering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62007" y="4234928"/>
            <a:ext cx="4744773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2E073F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Inferential Unsupervised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73564" y="7047906"/>
            <a:ext cx="5447784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2E073F"/>
                </a:solidFill>
                <a:latin typeface="Poppins"/>
                <a:ea typeface="Poppins"/>
                <a:cs typeface="Poppins"/>
                <a:sym typeface="Poppins"/>
              </a:rPr>
              <a:t>Finding anomalies in the continuous stream of clinical data to provide time-sensitive care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62007" y="6432803"/>
            <a:ext cx="4592392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2E073F"/>
                </a:solidFill>
                <a:latin typeface="Poppins Bold"/>
                <a:ea typeface="Poppins Bold"/>
                <a:cs typeface="Poppins Bold"/>
                <a:sym typeface="Poppins Bold"/>
              </a:rPr>
              <a:t>Find Inconsistencies in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9974" y="1320186"/>
            <a:ext cx="6149773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Pattern Recognition in Healthcare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0C1CF044-9831-216A-F335-EC10A4510B55}"/>
              </a:ext>
            </a:extLst>
          </p:cNvPr>
          <p:cNvSpPr txBox="1"/>
          <p:nvPr/>
        </p:nvSpPr>
        <p:spPr>
          <a:xfrm>
            <a:off x="11562008" y="4811000"/>
            <a:ext cx="4973392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2E073F"/>
                </a:solidFill>
                <a:latin typeface="Poppins"/>
                <a:ea typeface="Poppins"/>
                <a:cs typeface="Poppins"/>
                <a:sym typeface="Poppins"/>
              </a:rPr>
              <a:t>Making models that recognize patterns without having an output variable to train from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41806" y="3959834"/>
            <a:ext cx="6517494" cy="2366892"/>
            <a:chOff x="0" y="0"/>
            <a:chExt cx="1060797" cy="3852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0797" cy="385239"/>
            </a:xfrm>
            <a:custGeom>
              <a:avLst/>
              <a:gdLst/>
              <a:ahLst/>
              <a:cxnLst/>
              <a:rect l="l" t="t" r="r" b="b"/>
              <a:pathLst>
                <a:path w="1060797" h="385239">
                  <a:moveTo>
                    <a:pt x="857597" y="0"/>
                  </a:moveTo>
                  <a:lnTo>
                    <a:pt x="0" y="0"/>
                  </a:lnTo>
                  <a:lnTo>
                    <a:pt x="0" y="385239"/>
                  </a:lnTo>
                  <a:lnTo>
                    <a:pt x="857597" y="385239"/>
                  </a:lnTo>
                  <a:lnTo>
                    <a:pt x="1060797" y="192619"/>
                  </a:lnTo>
                  <a:lnTo>
                    <a:pt x="857597" y="0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46497" cy="451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41806" y="6660100"/>
            <a:ext cx="6517494" cy="2366892"/>
            <a:chOff x="0" y="0"/>
            <a:chExt cx="1060797" cy="3852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0797" cy="385239"/>
            </a:xfrm>
            <a:custGeom>
              <a:avLst/>
              <a:gdLst/>
              <a:ahLst/>
              <a:cxnLst/>
              <a:rect l="l" t="t" r="r" b="b"/>
              <a:pathLst>
                <a:path w="1060797" h="385239">
                  <a:moveTo>
                    <a:pt x="857597" y="0"/>
                  </a:moveTo>
                  <a:lnTo>
                    <a:pt x="0" y="0"/>
                  </a:lnTo>
                  <a:lnTo>
                    <a:pt x="0" y="385239"/>
                  </a:lnTo>
                  <a:lnTo>
                    <a:pt x="857597" y="385239"/>
                  </a:lnTo>
                  <a:lnTo>
                    <a:pt x="1060797" y="192619"/>
                  </a:lnTo>
                  <a:lnTo>
                    <a:pt x="857597" y="0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946497" cy="451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41806" y="1260008"/>
            <a:ext cx="6517494" cy="2366892"/>
            <a:chOff x="0" y="0"/>
            <a:chExt cx="1060797" cy="3852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0797" cy="385239"/>
            </a:xfrm>
            <a:custGeom>
              <a:avLst/>
              <a:gdLst/>
              <a:ahLst/>
              <a:cxnLst/>
              <a:rect l="l" t="t" r="r" b="b"/>
              <a:pathLst>
                <a:path w="1060797" h="385239">
                  <a:moveTo>
                    <a:pt x="857597" y="0"/>
                  </a:moveTo>
                  <a:lnTo>
                    <a:pt x="0" y="0"/>
                  </a:lnTo>
                  <a:lnTo>
                    <a:pt x="0" y="385239"/>
                  </a:lnTo>
                  <a:lnTo>
                    <a:pt x="857597" y="385239"/>
                  </a:lnTo>
                  <a:lnTo>
                    <a:pt x="1060797" y="192619"/>
                  </a:lnTo>
                  <a:lnTo>
                    <a:pt x="857597" y="0"/>
                  </a:lnTo>
                  <a:close/>
                </a:path>
              </a:pathLst>
            </a:custGeom>
            <a:solidFill>
              <a:srgbClr val="2E07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946497" cy="451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23961" y="4330729"/>
            <a:ext cx="1571116" cy="157111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073F"/>
            </a:solidFill>
            <a:ln w="57150" cap="sq">
              <a:solidFill>
                <a:srgbClr val="F6E5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b="1" dirty="0">
                  <a:solidFill>
                    <a:srgbClr val="F6E6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 A.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23961" y="7030996"/>
            <a:ext cx="1571116" cy="157111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073F"/>
            </a:solidFill>
            <a:ln w="57150" cap="sq">
              <a:solidFill>
                <a:srgbClr val="F6E5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b="1" dirty="0">
                  <a:solidFill>
                    <a:srgbClr val="F6E6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23961" y="1630903"/>
            <a:ext cx="1571116" cy="157111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073F"/>
            </a:solidFill>
            <a:ln w="57150" cap="sq">
              <a:solidFill>
                <a:srgbClr val="F6E5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b="1" dirty="0">
                  <a:solidFill>
                    <a:srgbClr val="F6E6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flipH="1" flipV="1">
            <a:off x="0" y="7232959"/>
            <a:ext cx="3054041" cy="3054041"/>
          </a:xfrm>
          <a:custGeom>
            <a:avLst/>
            <a:gdLst/>
            <a:ahLst/>
            <a:cxnLst/>
            <a:rect l="l" t="t" r="r" b="b"/>
            <a:pathLst>
              <a:path w="3054041" h="3054041">
                <a:moveTo>
                  <a:pt x="3054041" y="3054041"/>
                </a:moveTo>
                <a:lnTo>
                  <a:pt x="0" y="3054041"/>
                </a:lnTo>
                <a:lnTo>
                  <a:pt x="0" y="0"/>
                </a:lnTo>
                <a:lnTo>
                  <a:pt x="3054041" y="0"/>
                </a:lnTo>
                <a:lnTo>
                  <a:pt x="3054041" y="30540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3009431" y="5460414"/>
            <a:ext cx="5339103" cy="3299565"/>
          </a:xfrm>
          <a:custGeom>
            <a:avLst/>
            <a:gdLst/>
            <a:ahLst/>
            <a:cxnLst/>
            <a:rect l="l" t="t" r="r" b="b"/>
            <a:pathLst>
              <a:path w="5339103" h="3299565">
                <a:moveTo>
                  <a:pt x="0" y="0"/>
                </a:moveTo>
                <a:lnTo>
                  <a:pt x="5339103" y="0"/>
                </a:lnTo>
                <a:lnTo>
                  <a:pt x="5339103" y="3299566"/>
                </a:lnTo>
                <a:lnTo>
                  <a:pt x="0" y="3299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742084" y="2366295"/>
            <a:ext cx="7113035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Implementation at Cotiviti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80128" y="2533803"/>
            <a:ext cx="4562684" cy="83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F6E6FF"/>
                </a:solidFill>
                <a:latin typeface="Poppins"/>
                <a:ea typeface="Poppins"/>
                <a:cs typeface="Poppins"/>
                <a:sym typeface="Poppins"/>
              </a:rPr>
              <a:t>Can use models to categorize patients based on health risk and predict best treatment plan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80128" y="5110056"/>
            <a:ext cx="4307879" cy="83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F6E6FF"/>
                </a:solidFill>
                <a:latin typeface="Poppins"/>
                <a:ea typeface="Poppins"/>
                <a:cs typeface="Poppins"/>
                <a:sym typeface="Poppins"/>
              </a:rPr>
              <a:t>Agentic AI can run a loop of analysis, execution, and reevaluation to decrease human intervention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82685" y="7933895"/>
            <a:ext cx="3499918" cy="83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F6E6FF"/>
                </a:solidFill>
                <a:latin typeface="Poppins"/>
                <a:ea typeface="Poppins"/>
                <a:cs typeface="Poppins"/>
                <a:sym typeface="Poppins"/>
              </a:rPr>
              <a:t>Pattern recognition to cluster patients into different treatment plans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80128" y="1460295"/>
            <a:ext cx="3075372" cy="7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F6E6FF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Predictive models for Decision-making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80128" y="4355110"/>
            <a:ext cx="3075372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F6E6FF"/>
                </a:solidFill>
                <a:latin typeface="Poppins Bold"/>
                <a:ea typeface="Poppins Bold"/>
                <a:cs typeface="Poppins Bold"/>
                <a:sym typeface="Poppins Bold"/>
              </a:rPr>
              <a:t>Agentic AI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81407" y="6860388"/>
            <a:ext cx="3075372" cy="7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F6E6FF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Inference using Pattern Recognition</a:t>
            </a:r>
          </a:p>
        </p:txBody>
      </p:sp>
      <p:sp>
        <p:nvSpPr>
          <p:cNvPr id="32" name="Freeform 32"/>
          <p:cNvSpPr/>
          <p:nvPr/>
        </p:nvSpPr>
        <p:spPr>
          <a:xfrm rot="5400000">
            <a:off x="15920059" y="1339241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 rot="5400000">
            <a:off x="15920059" y="5843090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 rot="5400000">
            <a:off x="15920059" y="10349944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11580128" y="7812114"/>
            <a:ext cx="2970176" cy="0"/>
          </a:xfrm>
          <a:prstGeom prst="line">
            <a:avLst/>
          </a:prstGeom>
          <a:ln w="38100" cap="rnd">
            <a:solidFill>
              <a:srgbClr val="F6E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11580128" y="4920447"/>
            <a:ext cx="2970176" cy="0"/>
          </a:xfrm>
          <a:prstGeom prst="line">
            <a:avLst/>
          </a:prstGeom>
          <a:ln w="38100" cap="rnd">
            <a:solidFill>
              <a:srgbClr val="F6E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11580128" y="2409978"/>
            <a:ext cx="2970176" cy="0"/>
          </a:xfrm>
          <a:prstGeom prst="line">
            <a:avLst/>
          </a:prstGeom>
          <a:ln w="38100" cap="rnd">
            <a:solidFill>
              <a:srgbClr val="F6E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82CAD-5304-CB05-875E-C8BAC116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25A8980F-E751-EA73-376C-EA2FB07C923C}"/>
              </a:ext>
            </a:extLst>
          </p:cNvPr>
          <p:cNvSpPr/>
          <p:nvPr/>
        </p:nvSpPr>
        <p:spPr>
          <a:xfrm>
            <a:off x="0" y="6057900"/>
            <a:ext cx="7323274" cy="4686896"/>
          </a:xfrm>
          <a:custGeom>
            <a:avLst/>
            <a:gdLst/>
            <a:ahLst/>
            <a:cxnLst/>
            <a:rect l="l" t="t" r="r" b="b"/>
            <a:pathLst>
              <a:path w="7323274" h="4686896">
                <a:moveTo>
                  <a:pt x="0" y="0"/>
                </a:moveTo>
                <a:lnTo>
                  <a:pt x="7323275" y="0"/>
                </a:lnTo>
                <a:lnTo>
                  <a:pt x="7323275" y="4686895"/>
                </a:lnTo>
                <a:lnTo>
                  <a:pt x="0" y="4686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8FF3F79-16DD-1586-B233-E05EC82AF584}"/>
              </a:ext>
            </a:extLst>
          </p:cNvPr>
          <p:cNvSpPr/>
          <p:nvPr/>
        </p:nvSpPr>
        <p:spPr>
          <a:xfrm>
            <a:off x="73731" y="7096089"/>
            <a:ext cx="3283170" cy="3178109"/>
          </a:xfrm>
          <a:custGeom>
            <a:avLst/>
            <a:gdLst/>
            <a:ahLst/>
            <a:cxnLst/>
            <a:rect l="l" t="t" r="r" b="b"/>
            <a:pathLst>
              <a:path w="3283170" h="3178109">
                <a:moveTo>
                  <a:pt x="0" y="0"/>
                </a:moveTo>
                <a:lnTo>
                  <a:pt x="3283170" y="0"/>
                </a:lnTo>
                <a:lnTo>
                  <a:pt x="3283170" y="3178108"/>
                </a:lnTo>
                <a:lnTo>
                  <a:pt x="0" y="3178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C0BA8EC-D06F-208E-8B31-6BE66CF8C094}"/>
              </a:ext>
            </a:extLst>
          </p:cNvPr>
          <p:cNvSpPr txBox="1"/>
          <p:nvPr/>
        </p:nvSpPr>
        <p:spPr>
          <a:xfrm>
            <a:off x="1259974" y="1320186"/>
            <a:ext cx="6149773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Proof of Concept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97106E28-51F4-0312-A419-3E1F7F0CFD7A}"/>
              </a:ext>
            </a:extLst>
          </p:cNvPr>
          <p:cNvSpPr txBox="1"/>
          <p:nvPr/>
        </p:nvSpPr>
        <p:spPr>
          <a:xfrm>
            <a:off x="1255492" y="2195707"/>
            <a:ext cx="4202818" cy="172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2E073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 the best healthcare plan based on medical history and insurance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502F5E-AAD5-144A-ACA1-F367589C3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045" y="1104900"/>
            <a:ext cx="8084534" cy="849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3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BED54-2A0F-4EFB-E8B3-DF0A9FDD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>
            <a:extLst>
              <a:ext uri="{FF2B5EF4-FFF2-40B4-BE49-F238E27FC236}">
                <a16:creationId xmlns:a16="http://schemas.microsoft.com/office/drawing/2014/main" id="{3DB0FB9B-2FBA-664A-AB73-E7A632A438CA}"/>
              </a:ext>
            </a:extLst>
          </p:cNvPr>
          <p:cNvSpPr/>
          <p:nvPr/>
        </p:nvSpPr>
        <p:spPr>
          <a:xfrm flipH="1" flipV="1">
            <a:off x="0" y="7232959"/>
            <a:ext cx="3054041" cy="3054041"/>
          </a:xfrm>
          <a:custGeom>
            <a:avLst/>
            <a:gdLst/>
            <a:ahLst/>
            <a:cxnLst/>
            <a:rect l="l" t="t" r="r" b="b"/>
            <a:pathLst>
              <a:path w="3054041" h="3054041">
                <a:moveTo>
                  <a:pt x="3054041" y="3054041"/>
                </a:moveTo>
                <a:lnTo>
                  <a:pt x="0" y="3054041"/>
                </a:lnTo>
                <a:lnTo>
                  <a:pt x="0" y="0"/>
                </a:lnTo>
                <a:lnTo>
                  <a:pt x="3054041" y="0"/>
                </a:lnTo>
                <a:lnTo>
                  <a:pt x="3054041" y="30540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94632AAD-63F7-78BA-FBC2-8B6DEBC199C1}"/>
              </a:ext>
            </a:extLst>
          </p:cNvPr>
          <p:cNvSpPr/>
          <p:nvPr/>
        </p:nvSpPr>
        <p:spPr>
          <a:xfrm>
            <a:off x="0" y="6860388"/>
            <a:ext cx="5339103" cy="3299565"/>
          </a:xfrm>
          <a:custGeom>
            <a:avLst/>
            <a:gdLst/>
            <a:ahLst/>
            <a:cxnLst/>
            <a:rect l="l" t="t" r="r" b="b"/>
            <a:pathLst>
              <a:path w="5339103" h="3299565">
                <a:moveTo>
                  <a:pt x="0" y="0"/>
                </a:moveTo>
                <a:lnTo>
                  <a:pt x="5339103" y="0"/>
                </a:lnTo>
                <a:lnTo>
                  <a:pt x="5339103" y="3299566"/>
                </a:lnTo>
                <a:lnTo>
                  <a:pt x="0" y="3299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DCBFD9C-F983-E0F4-0B62-C1287D58F320}"/>
              </a:ext>
            </a:extLst>
          </p:cNvPr>
          <p:cNvSpPr txBox="1"/>
          <p:nvPr/>
        </p:nvSpPr>
        <p:spPr>
          <a:xfrm>
            <a:off x="1066800" y="419100"/>
            <a:ext cx="7113035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Proof of Concept cont.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CF7125A-FF2A-8196-FC2F-E1C1DAD211F5}"/>
              </a:ext>
            </a:extLst>
          </p:cNvPr>
          <p:cNvSpPr txBox="1"/>
          <p:nvPr/>
        </p:nvSpPr>
        <p:spPr>
          <a:xfrm>
            <a:off x="11582685" y="7933895"/>
            <a:ext cx="3499918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6E6FF"/>
                </a:solidFill>
                <a:latin typeface="Poppins"/>
                <a:ea typeface="Poppins"/>
                <a:cs typeface="Poppins"/>
                <a:sym typeface="Poppins"/>
              </a:rPr>
              <a:t>Small-scale implementations prove value before larger investments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1EB34ED-4E68-4AA6-BB3C-C33B251C4BF4}"/>
              </a:ext>
            </a:extLst>
          </p:cNvPr>
          <p:cNvSpPr txBox="1"/>
          <p:nvPr/>
        </p:nvSpPr>
        <p:spPr>
          <a:xfrm>
            <a:off x="11580128" y="1460295"/>
            <a:ext cx="3075372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6E6FF"/>
                </a:solidFill>
                <a:latin typeface="Poppins Bold"/>
                <a:ea typeface="Poppins Bold"/>
                <a:cs typeface="Poppins Bold"/>
                <a:sym typeface="Poppins Bold"/>
              </a:rPr>
              <a:t>AI solution evaluation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505E10C-E234-C86A-4BA5-83796807EAF7}"/>
              </a:ext>
            </a:extLst>
          </p:cNvPr>
          <p:cNvSpPr txBox="1"/>
          <p:nvPr/>
        </p:nvSpPr>
        <p:spPr>
          <a:xfrm>
            <a:off x="11580128" y="4160121"/>
            <a:ext cx="3075372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6E6FF"/>
                </a:solidFill>
                <a:latin typeface="Poppins Bold"/>
                <a:ea typeface="Poppins Bold"/>
                <a:cs typeface="Poppins Bold"/>
                <a:sym typeface="Poppins Bold"/>
              </a:rPr>
              <a:t>Vendor assessment and selection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52B8713-D330-EFBF-0844-142C809A8997}"/>
              </a:ext>
            </a:extLst>
          </p:cNvPr>
          <p:cNvSpPr txBox="1"/>
          <p:nvPr/>
        </p:nvSpPr>
        <p:spPr>
          <a:xfrm>
            <a:off x="11581407" y="6860388"/>
            <a:ext cx="3075372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6E6FF"/>
                </a:solidFill>
                <a:latin typeface="Poppins Bold"/>
                <a:ea typeface="Poppins Bold"/>
                <a:cs typeface="Poppins Bold"/>
                <a:sym typeface="Poppins Bold"/>
              </a:rPr>
              <a:t>Pilot project development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90E795E4-827D-A235-E29D-F3949CD475AA}"/>
              </a:ext>
            </a:extLst>
          </p:cNvPr>
          <p:cNvSpPr/>
          <p:nvPr/>
        </p:nvSpPr>
        <p:spPr>
          <a:xfrm rot="5400000">
            <a:off x="15920059" y="1339241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804F5D52-AE21-3C29-8905-0F9A5C346C41}"/>
              </a:ext>
            </a:extLst>
          </p:cNvPr>
          <p:cNvSpPr/>
          <p:nvPr/>
        </p:nvSpPr>
        <p:spPr>
          <a:xfrm rot="5400000">
            <a:off x="15920059" y="5843090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305FB565-6578-8B1B-852E-C1C732FC52E4}"/>
              </a:ext>
            </a:extLst>
          </p:cNvPr>
          <p:cNvSpPr/>
          <p:nvPr/>
        </p:nvSpPr>
        <p:spPr>
          <a:xfrm rot="5400000">
            <a:off x="15920059" y="10349944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189CC792-DF46-397E-CA20-D44B924D0AA8}"/>
              </a:ext>
            </a:extLst>
          </p:cNvPr>
          <p:cNvSpPr/>
          <p:nvPr/>
        </p:nvSpPr>
        <p:spPr>
          <a:xfrm>
            <a:off x="11580128" y="5109803"/>
            <a:ext cx="2970176" cy="0"/>
          </a:xfrm>
          <a:prstGeom prst="line">
            <a:avLst/>
          </a:prstGeom>
          <a:ln w="38100" cap="rnd">
            <a:solidFill>
              <a:srgbClr val="F6E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53C984BE-001B-B346-7A26-F3137E0B147E}"/>
              </a:ext>
            </a:extLst>
          </p:cNvPr>
          <p:cNvSpPr/>
          <p:nvPr/>
        </p:nvSpPr>
        <p:spPr>
          <a:xfrm>
            <a:off x="11580128" y="2409978"/>
            <a:ext cx="2970176" cy="0"/>
          </a:xfrm>
          <a:prstGeom prst="line">
            <a:avLst/>
          </a:prstGeom>
          <a:ln w="38100" cap="rnd">
            <a:solidFill>
              <a:srgbClr val="F6E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126C537-2E86-80F9-33FF-25E8680BAB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65" y="1806638"/>
            <a:ext cx="11227793" cy="342743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8959F07-D687-6C88-B734-EE159F4275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3603"/>
          <a:stretch>
            <a:fillRect/>
          </a:stretch>
        </p:blipFill>
        <p:spPr>
          <a:xfrm>
            <a:off x="6285945" y="5905498"/>
            <a:ext cx="8164576" cy="292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3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679CE-CF2D-D55E-59B8-2E336BBF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9D9E85C2-B579-D9D7-876D-90FE57AA7DBF}"/>
              </a:ext>
            </a:extLst>
          </p:cNvPr>
          <p:cNvSpPr/>
          <p:nvPr/>
        </p:nvSpPr>
        <p:spPr>
          <a:xfrm>
            <a:off x="15369988" y="266700"/>
            <a:ext cx="2673570" cy="2644709"/>
          </a:xfrm>
          <a:custGeom>
            <a:avLst/>
            <a:gdLst/>
            <a:ahLst/>
            <a:cxnLst/>
            <a:rect l="l" t="t" r="r" b="b"/>
            <a:pathLst>
              <a:path w="3283170" h="3178109">
                <a:moveTo>
                  <a:pt x="0" y="0"/>
                </a:moveTo>
                <a:lnTo>
                  <a:pt x="3283170" y="0"/>
                </a:lnTo>
                <a:lnTo>
                  <a:pt x="3283170" y="3178108"/>
                </a:lnTo>
                <a:lnTo>
                  <a:pt x="0" y="3178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213F5B6-C965-C7B0-DD37-724876652A16}"/>
              </a:ext>
            </a:extLst>
          </p:cNvPr>
          <p:cNvSpPr txBox="1"/>
          <p:nvPr/>
        </p:nvSpPr>
        <p:spPr>
          <a:xfrm>
            <a:off x="1370376" y="742668"/>
            <a:ext cx="8428537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Proof of Concept cont.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717A5-42C3-FEB3-1D5D-BD240A188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95" y="2400300"/>
            <a:ext cx="8428537" cy="5931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44634A-B099-9E8E-9F1C-A95DCD85E3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838"/>
          <a:stretch>
            <a:fillRect/>
          </a:stretch>
        </p:blipFill>
        <p:spPr>
          <a:xfrm>
            <a:off x="9320594" y="5299598"/>
            <a:ext cx="8749858" cy="4468697"/>
          </a:xfrm>
          <a:prstGeom prst="rect">
            <a:avLst/>
          </a:prstGeom>
        </p:spPr>
      </p:pic>
      <p:sp>
        <p:nvSpPr>
          <p:cNvPr id="6" name="TextBox 16">
            <a:extLst>
              <a:ext uri="{FF2B5EF4-FFF2-40B4-BE49-F238E27FC236}">
                <a16:creationId xmlns:a16="http://schemas.microsoft.com/office/drawing/2014/main" id="{D6CB0652-4E22-0B2B-D8EE-7AC7A8AFDAF3}"/>
              </a:ext>
            </a:extLst>
          </p:cNvPr>
          <p:cNvSpPr txBox="1"/>
          <p:nvPr/>
        </p:nvSpPr>
        <p:spPr>
          <a:xfrm>
            <a:off x="9628470" y="3715928"/>
            <a:ext cx="6149773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Example Output:</a:t>
            </a:r>
          </a:p>
        </p:txBody>
      </p:sp>
    </p:spTree>
    <p:extLst>
      <p:ext uri="{BB962C8B-B14F-4D97-AF65-F5344CB8AC3E}">
        <p14:creationId xmlns:p14="http://schemas.microsoft.com/office/powerpoint/2010/main" val="345508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879BA-7CEC-BD8C-A91B-4C039C0C5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>
            <a:extLst>
              <a:ext uri="{FF2B5EF4-FFF2-40B4-BE49-F238E27FC236}">
                <a16:creationId xmlns:a16="http://schemas.microsoft.com/office/drawing/2014/main" id="{7EB9C66F-E0BC-6E93-5EB6-71C12AF3BE76}"/>
              </a:ext>
            </a:extLst>
          </p:cNvPr>
          <p:cNvSpPr/>
          <p:nvPr/>
        </p:nvSpPr>
        <p:spPr>
          <a:xfrm flipH="1" flipV="1">
            <a:off x="0" y="7232959"/>
            <a:ext cx="3054041" cy="3054041"/>
          </a:xfrm>
          <a:custGeom>
            <a:avLst/>
            <a:gdLst/>
            <a:ahLst/>
            <a:cxnLst/>
            <a:rect l="l" t="t" r="r" b="b"/>
            <a:pathLst>
              <a:path w="3054041" h="3054041">
                <a:moveTo>
                  <a:pt x="3054041" y="3054041"/>
                </a:moveTo>
                <a:lnTo>
                  <a:pt x="0" y="3054041"/>
                </a:lnTo>
                <a:lnTo>
                  <a:pt x="0" y="0"/>
                </a:lnTo>
                <a:lnTo>
                  <a:pt x="3054041" y="0"/>
                </a:lnTo>
                <a:lnTo>
                  <a:pt x="3054041" y="30540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A0A7FC1-F1BD-2427-9F96-F5C0C22053AA}"/>
              </a:ext>
            </a:extLst>
          </p:cNvPr>
          <p:cNvSpPr txBox="1"/>
          <p:nvPr/>
        </p:nvSpPr>
        <p:spPr>
          <a:xfrm>
            <a:off x="11580128" y="1460295"/>
            <a:ext cx="3075372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6E6FF"/>
                </a:solidFill>
                <a:latin typeface="Poppins Bold"/>
                <a:ea typeface="Poppins Bold"/>
                <a:cs typeface="Poppins Bold"/>
                <a:sym typeface="Poppins Bold"/>
              </a:rPr>
              <a:t>AI solution evaluation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A448C8E6-EB29-AF27-9E06-12F674710F27}"/>
              </a:ext>
            </a:extLst>
          </p:cNvPr>
          <p:cNvSpPr/>
          <p:nvPr/>
        </p:nvSpPr>
        <p:spPr>
          <a:xfrm rot="5400000">
            <a:off x="15920059" y="1339241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7471D74-6795-8528-1857-84B0E77E8291}"/>
              </a:ext>
            </a:extLst>
          </p:cNvPr>
          <p:cNvSpPr txBox="1"/>
          <p:nvPr/>
        </p:nvSpPr>
        <p:spPr>
          <a:xfrm>
            <a:off x="2030965" y="2087504"/>
            <a:ext cx="7113035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dirty="0">
                <a:solidFill>
                  <a:srgbClr val="2E073F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57A569E7-C717-BBE6-E53D-7ADA113F47D0}"/>
              </a:ext>
            </a:extLst>
          </p:cNvPr>
          <p:cNvSpPr/>
          <p:nvPr/>
        </p:nvSpPr>
        <p:spPr>
          <a:xfrm rot="5400000">
            <a:off x="15920059" y="5843090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98896EFD-A05A-5355-7E19-C57E1D083F6E}"/>
              </a:ext>
            </a:extLst>
          </p:cNvPr>
          <p:cNvSpPr/>
          <p:nvPr/>
        </p:nvSpPr>
        <p:spPr>
          <a:xfrm rot="5400000">
            <a:off x="15920059" y="10349944"/>
            <a:ext cx="4221104" cy="1542622"/>
          </a:xfrm>
          <a:custGeom>
            <a:avLst/>
            <a:gdLst/>
            <a:ahLst/>
            <a:cxnLst/>
            <a:rect l="l" t="t" r="r" b="b"/>
            <a:pathLst>
              <a:path w="4221104" h="1542622">
                <a:moveTo>
                  <a:pt x="0" y="0"/>
                </a:moveTo>
                <a:lnTo>
                  <a:pt x="4221104" y="0"/>
                </a:lnTo>
                <a:lnTo>
                  <a:pt x="422110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65BB96FF-9A17-614F-4746-BA3702324A03}"/>
              </a:ext>
            </a:extLst>
          </p:cNvPr>
          <p:cNvSpPr/>
          <p:nvPr/>
        </p:nvSpPr>
        <p:spPr>
          <a:xfrm>
            <a:off x="11580128" y="5109803"/>
            <a:ext cx="2970176" cy="0"/>
          </a:xfrm>
          <a:prstGeom prst="line">
            <a:avLst/>
          </a:prstGeom>
          <a:ln w="38100" cap="rnd">
            <a:solidFill>
              <a:srgbClr val="F6E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75269DE3-0526-CA7A-F358-00909AE5D42E}"/>
              </a:ext>
            </a:extLst>
          </p:cNvPr>
          <p:cNvSpPr/>
          <p:nvPr/>
        </p:nvSpPr>
        <p:spPr>
          <a:xfrm>
            <a:off x="11580128" y="2409978"/>
            <a:ext cx="2970176" cy="0"/>
          </a:xfrm>
          <a:prstGeom prst="line">
            <a:avLst/>
          </a:prstGeom>
          <a:ln w="38100" cap="rnd">
            <a:solidFill>
              <a:srgbClr val="F6E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30CD9BD6-7BCD-444D-DBEC-21E3EC9675F3}"/>
              </a:ext>
            </a:extLst>
          </p:cNvPr>
          <p:cNvSpPr txBox="1"/>
          <p:nvPr/>
        </p:nvSpPr>
        <p:spPr>
          <a:xfrm>
            <a:off x="2162940" y="3584661"/>
            <a:ext cx="6538614" cy="323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500" dirty="0">
                <a:solidFill>
                  <a:srgbClr val="2E073F"/>
                </a:solidFill>
                <a:latin typeface="Poppins"/>
                <a:ea typeface="Poppins"/>
                <a:cs typeface="Poppins"/>
                <a:sym typeface="Poppins"/>
              </a:rPr>
              <a:t>Decision-making and pattern recognition in healthcare can be automated using AI to help support clinical workload. </a:t>
            </a:r>
          </a:p>
          <a:p>
            <a:pPr algn="ctr">
              <a:lnSpc>
                <a:spcPts val="2800"/>
              </a:lnSpc>
            </a:pPr>
            <a:endParaRPr lang="en-US" sz="2500" dirty="0">
              <a:solidFill>
                <a:srgbClr val="2E07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800"/>
              </a:lnSpc>
            </a:pPr>
            <a:r>
              <a:rPr lang="en-US" sz="2500" dirty="0">
                <a:solidFill>
                  <a:srgbClr val="2E073F"/>
                </a:solidFill>
                <a:latin typeface="Poppins"/>
                <a:ea typeface="Poppins"/>
                <a:cs typeface="Poppins"/>
                <a:sym typeface="Poppins"/>
              </a:rPr>
              <a:t>AI technology continues to develop, and predictive and inferential models are some ways to take advantage of that development in Healthcare. 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6FB6727F-8B50-DCD2-B5BF-41C469752BF2}"/>
              </a:ext>
            </a:extLst>
          </p:cNvPr>
          <p:cNvSpPr/>
          <p:nvPr/>
        </p:nvSpPr>
        <p:spPr>
          <a:xfrm>
            <a:off x="12855744" y="4729355"/>
            <a:ext cx="7349875" cy="7122697"/>
          </a:xfrm>
          <a:custGeom>
            <a:avLst/>
            <a:gdLst/>
            <a:ahLst/>
            <a:cxnLst/>
            <a:rect l="l" t="t" r="r" b="b"/>
            <a:pathLst>
              <a:path w="7349875" h="7122697">
                <a:moveTo>
                  <a:pt x="0" y="0"/>
                </a:moveTo>
                <a:lnTo>
                  <a:pt x="7349875" y="0"/>
                </a:lnTo>
                <a:lnTo>
                  <a:pt x="7349875" y="7122697"/>
                </a:lnTo>
                <a:lnTo>
                  <a:pt x="0" y="7122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B7687453-0F38-5C7E-9543-8552A07732ED}"/>
              </a:ext>
            </a:extLst>
          </p:cNvPr>
          <p:cNvSpPr/>
          <p:nvPr/>
        </p:nvSpPr>
        <p:spPr>
          <a:xfrm>
            <a:off x="11201400" y="3024259"/>
            <a:ext cx="4950554" cy="3171238"/>
          </a:xfrm>
          <a:custGeom>
            <a:avLst/>
            <a:gdLst/>
            <a:ahLst/>
            <a:cxnLst/>
            <a:rect l="l" t="t" r="r" b="b"/>
            <a:pathLst>
              <a:path w="5339103" h="3299565">
                <a:moveTo>
                  <a:pt x="0" y="0"/>
                </a:moveTo>
                <a:lnTo>
                  <a:pt x="5339103" y="0"/>
                </a:lnTo>
                <a:lnTo>
                  <a:pt x="5339103" y="3299566"/>
                </a:lnTo>
                <a:lnTo>
                  <a:pt x="0" y="3299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08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3338</TotalTime>
  <Words>362</Words>
  <Application>Microsoft Macintosh PowerPoint</Application>
  <PresentationFormat>Custom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Poppins</vt:lpstr>
      <vt:lpstr>Anton</vt:lpstr>
      <vt:lpstr>Poppins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Roadmap Modern Purple Talking Presentation</dc:title>
  <cp:lastModifiedBy>Ananya [US]</cp:lastModifiedBy>
  <cp:revision>5</cp:revision>
  <dcterms:created xsi:type="dcterms:W3CDTF">2006-08-16T00:00:00Z</dcterms:created>
  <dcterms:modified xsi:type="dcterms:W3CDTF">2026-09-28T01:25:03Z</dcterms:modified>
  <dc:identifier>DAHWOZO1YIc</dc:identifier>
</cp:coreProperties>
</file>